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7747C77-45E1-4B95-9846-36C6299D6EEB}">
  <a:tblStyle styleId="{47747C77-45E1-4B95-9846-36C6299D6EE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8d2af09b88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8d2af09b88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8d2c9b963c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8d2c9b963c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8d2af09b8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8d2af09b8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806c8be55f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806c8be55f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06c8be55f_0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806c8be55f_0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06c8be55f_0_5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806c8be55f_0_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806c8be55f_0_6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806c8be55f_0_6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8d2af09b88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8d2af09b8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8d2af09b88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8d2af09b88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Neo">
  <p:cSld name="TITLE_ONLY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58350" y="62925"/>
            <a:ext cx="902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buNone/>
              <a:defRPr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>
              <a:buNone/>
              <a:defRPr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>
              <a:buNone/>
              <a:defRPr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>
              <a:buNone/>
              <a:defRPr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>
              <a:buNone/>
              <a:defRPr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>
              <a:buNone/>
              <a:defRPr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>
              <a:buNone/>
              <a:defRPr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>
              <a:buNone/>
              <a:defRPr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3.xml"/><Relationship Id="rId4" Type="http://schemas.openxmlformats.org/officeDocument/2006/relationships/slide" Target="/ppt/slides/slide9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3.png"/><Relationship Id="rId7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flexCompositor - pip</a:t>
            </a:r>
            <a:endParaRPr/>
          </a:p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Neo 2025/09/30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58350" y="62925"/>
            <a:ext cx="902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latin typeface="Arial"/>
                <a:ea typeface="Arial"/>
                <a:cs typeface="Arial"/>
                <a:sym typeface="Arial"/>
              </a:rPr>
              <a:t>Topic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</a:t>
            </a:r>
            <a:endParaRPr/>
          </a:p>
        </p:txBody>
      </p:sp>
      <p:graphicFrame>
        <p:nvGraphicFramePr>
          <p:cNvPr id="65" name="Google Shape;65;p15"/>
          <p:cNvGraphicFramePr/>
          <p:nvPr/>
        </p:nvGraphicFramePr>
        <p:xfrm>
          <a:off x="454600" y="7651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{47747C77-45E1-4B95-9846-36C6299D6EEB}</a:tableStyleId>
              </a:tblPr>
              <a:tblGrid>
                <a:gridCol w="7228000"/>
                <a:gridCol w="1338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chemeClr val="lt1"/>
                          </a:solidFill>
                        </a:rPr>
                        <a:t>1.</a:t>
                      </a:r>
                      <a:r>
                        <a:rPr lang="zh-TW" sz="1800">
                          <a:solidFill>
                            <a:schemeClr val="lt1"/>
                          </a:solidFill>
                        </a:rPr>
                        <a:t>flexCompositor - pip screen element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u="sng">
                          <a:solidFill>
                            <a:schemeClr val="hlink"/>
                          </a:solidFill>
                          <a:hlinkClick action="ppaction://hlinksldjump" r:id="rId3"/>
                        </a:rPr>
                        <a:t>2-7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chemeClr val="lt1"/>
                          </a:solidFill>
                        </a:rPr>
                        <a:t>2.</a:t>
                      </a:r>
                      <a:r>
                        <a:rPr lang="zh-TW" sz="1800">
                          <a:solidFill>
                            <a:schemeClr val="lt1"/>
                          </a:solidFill>
                        </a:rPr>
                        <a:t>Request/ Response - securityAlert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u="sng">
                          <a:solidFill>
                            <a:schemeClr val="hlink"/>
                          </a:solidFill>
                          <a:hlinkClick action="ppaction://hlinksldjump" r:id="rId4"/>
                        </a:rPr>
                        <a:t>9-10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58350" y="62925"/>
            <a:ext cx="902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flexCompositor - pip screen element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16"/>
          <p:cNvSpPr/>
          <p:nvPr/>
        </p:nvSpPr>
        <p:spPr>
          <a:xfrm>
            <a:off x="294975" y="975100"/>
            <a:ext cx="1670400" cy="10023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pip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1320550" y="1603575"/>
            <a:ext cx="556200" cy="3108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latin typeface="Times New Roman"/>
                <a:ea typeface="Times New Roman"/>
                <a:cs typeface="Times New Roman"/>
                <a:sym typeface="Times New Roman"/>
              </a:rPr>
              <a:t>child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294975" y="1371241"/>
            <a:ext cx="556200" cy="248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sink</a:t>
            </a:r>
            <a:endParaRPr/>
          </a:p>
        </p:txBody>
      </p:sp>
      <p:cxnSp>
        <p:nvCxnSpPr>
          <p:cNvPr id="74" name="Google Shape;74;p16"/>
          <p:cNvCxnSpPr>
            <a:stCxn id="73" idx="3"/>
            <a:endCxn id="72" idx="1"/>
          </p:cNvCxnSpPr>
          <p:nvPr/>
        </p:nvCxnSpPr>
        <p:spPr>
          <a:xfrm>
            <a:off x="851175" y="1495591"/>
            <a:ext cx="469500" cy="26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75" name="Google Shape;75;p16"/>
          <p:cNvSpPr txBox="1"/>
          <p:nvPr/>
        </p:nvSpPr>
        <p:spPr>
          <a:xfrm>
            <a:off x="3084550" y="712300"/>
            <a:ext cx="5726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[screen]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C27B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;&lt;name&gt;=virtual-&lt;n&gt;,&lt;w&gt;x&lt;h&gt;,app(&lt;appName&gt;)</a:t>
            </a:r>
            <a:endParaRPr>
              <a:solidFill>
                <a:srgbClr val="C27B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pipDisplay0</a:t>
            </a:r>
            <a:r>
              <a:rPr lang="zh-TW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=pip-0,1920x1080</a:t>
            </a:r>
            <a:endParaRPr/>
          </a:p>
        </p:txBody>
      </p:sp>
      <p:graphicFrame>
        <p:nvGraphicFramePr>
          <p:cNvPr id="76" name="Google Shape;76;p16"/>
          <p:cNvGraphicFramePr/>
          <p:nvPr/>
        </p:nvGraphicFramePr>
        <p:xfrm>
          <a:off x="3201975" y="1790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{47747C77-45E1-4B95-9846-36C6299D6EEB}</a:tableStyleId>
              </a:tblPr>
              <a:tblGrid>
                <a:gridCol w="1343575"/>
                <a:gridCol w="1343575"/>
                <a:gridCol w="1343575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VirtualDisplay - For storing app content</a:t>
                      </a:r>
                      <a:endParaRPr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field</a:t>
                      </a:r>
                      <a:endParaRPr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required</a:t>
                      </a:r>
                      <a:endParaRPr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pip</a:t>
                      </a:r>
                      <a:r>
                        <a:rPr lang="zh-TW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-&lt;n&gt;</a:t>
                      </a:r>
                      <a:endParaRPr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&lt;n&gt; : Avoid repetition</a:t>
                      </a:r>
                      <a:endParaRPr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&lt;w&gt;x&lt;h&gt;</a:t>
                      </a:r>
                      <a:endParaRPr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width x height</a:t>
                      </a:r>
                      <a:endParaRPr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2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58350" y="62925"/>
            <a:ext cx="902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flexCompositor - pip screen element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17550" y="815800"/>
            <a:ext cx="1445100" cy="4506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ParentActivity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143750" y="1558700"/>
            <a:ext cx="1592700" cy="4506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UiParentActivity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5" name="Google Shape;85;p17"/>
          <p:cNvCxnSpPr>
            <a:stCxn id="84" idx="0"/>
            <a:endCxn id="83" idx="2"/>
          </p:cNvCxnSpPr>
          <p:nvPr/>
        </p:nvCxnSpPr>
        <p:spPr>
          <a:xfrm rot="10800000">
            <a:off x="940100" y="1266500"/>
            <a:ext cx="0" cy="29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6" name="Google Shape;86;p17"/>
          <p:cNvSpPr txBox="1"/>
          <p:nvPr/>
        </p:nvSpPr>
        <p:spPr>
          <a:xfrm>
            <a:off x="971225" y="1266500"/>
            <a:ext cx="924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inherits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1662650" y="733300"/>
            <a:ext cx="2505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3C78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logic responsible for switching with the child.</a:t>
            </a:r>
            <a:endParaRPr>
              <a:solidFill>
                <a:srgbClr val="3C78D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1829700" y="1476200"/>
            <a:ext cx="835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45818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UI style</a:t>
            </a:r>
            <a:endParaRPr>
              <a:solidFill>
                <a:srgbClr val="45818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750" y="2347250"/>
            <a:ext cx="2705974" cy="16795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/>
          <p:nvPr/>
        </p:nvSpPr>
        <p:spPr>
          <a:xfrm>
            <a:off x="93225" y="1491775"/>
            <a:ext cx="1686000" cy="572700"/>
          </a:xfrm>
          <a:prstGeom prst="rect">
            <a:avLst/>
          </a:prstGeom>
          <a:noFill/>
          <a:ln cap="flat" cmpd="sng" w="28575">
            <a:solidFill>
              <a:srgbClr val="8E7CC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1" name="Google Shape;91;p17"/>
          <p:cNvCxnSpPr>
            <a:stCxn id="90" idx="2"/>
          </p:cNvCxnSpPr>
          <p:nvPr/>
        </p:nvCxnSpPr>
        <p:spPr>
          <a:xfrm>
            <a:off x="936225" y="2064475"/>
            <a:ext cx="73800" cy="616200"/>
          </a:xfrm>
          <a:prstGeom prst="straightConnector1">
            <a:avLst/>
          </a:prstGeom>
          <a:noFill/>
          <a:ln cap="flat" cmpd="sng" w="28575">
            <a:solidFill>
              <a:srgbClr val="8E7CC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" name="Google Shape;92;p17"/>
          <p:cNvSpPr/>
          <p:nvPr/>
        </p:nvSpPr>
        <p:spPr>
          <a:xfrm>
            <a:off x="4292875" y="815800"/>
            <a:ext cx="1445100" cy="4506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Child</a:t>
            </a:r>
            <a:r>
              <a:rPr lang="zh-TW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Activity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4219075" y="1558700"/>
            <a:ext cx="1592700" cy="4506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UiChildActivity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5046550" y="1266500"/>
            <a:ext cx="924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inherits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4168550" y="1497650"/>
            <a:ext cx="1686000" cy="572700"/>
          </a:xfrm>
          <a:prstGeom prst="rect">
            <a:avLst/>
          </a:prstGeom>
          <a:noFill/>
          <a:ln cap="flat" cmpd="sng" w="28575">
            <a:solidFill>
              <a:srgbClr val="8E7CC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6" name="Google Shape;96;p17"/>
          <p:cNvCxnSpPr>
            <a:stCxn id="95" idx="2"/>
          </p:cNvCxnSpPr>
          <p:nvPr/>
        </p:nvCxnSpPr>
        <p:spPr>
          <a:xfrm flipH="1">
            <a:off x="2633750" y="2070350"/>
            <a:ext cx="2377800" cy="1447500"/>
          </a:xfrm>
          <a:prstGeom prst="straightConnector1">
            <a:avLst/>
          </a:prstGeom>
          <a:noFill/>
          <a:ln cap="flat" cmpd="sng" w="28575">
            <a:solidFill>
              <a:srgbClr val="8E7CC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" name="Google Shape;97;p17"/>
          <p:cNvCxnSpPr>
            <a:stCxn id="93" idx="0"/>
            <a:endCxn id="92" idx="2"/>
          </p:cNvCxnSpPr>
          <p:nvPr/>
        </p:nvCxnSpPr>
        <p:spPr>
          <a:xfrm rot="10800000">
            <a:off x="5015425" y="1266500"/>
            <a:ext cx="0" cy="29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" name="Google Shape;98;p17"/>
          <p:cNvSpPr txBox="1"/>
          <p:nvPr/>
        </p:nvSpPr>
        <p:spPr>
          <a:xfrm>
            <a:off x="5862300" y="733300"/>
            <a:ext cx="2505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logic responsible for switching with the parent.</a:t>
            </a:r>
            <a:endParaRPr>
              <a:solidFill>
                <a:srgbClr val="CC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6002275" y="1476200"/>
            <a:ext cx="835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BF9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UI style</a:t>
            </a:r>
            <a:endParaRPr>
              <a:solidFill>
                <a:srgbClr val="BF9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58350" y="62925"/>
            <a:ext cx="902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flexCompositor - pip screen element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58350" y="663150"/>
            <a:ext cx="35001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[screen]</a:t>
            </a:r>
            <a:endParaRPr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stream0=stream-0,1920x1080,\</a:t>
            </a:r>
            <a:endParaRPr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server(192.168.1.6,50000),\</a:t>
            </a:r>
            <a:endParaRPr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codec(h264)</a:t>
            </a:r>
            <a:endParaRPr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zh-TW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zh-TW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pip</a:t>
            </a:r>
            <a:r>
              <a:rPr lang="zh-TW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Display0=pip-0,1920x1080</a:t>
            </a:r>
            <a:endParaRPr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[mapping]</a:t>
            </a:r>
            <a:endParaRPr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stream0</a:t>
            </a:r>
            <a:r>
              <a:rPr lang="zh-TW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(0,0,1920,1080)-&gt;</a:t>
            </a:r>
            <a:r>
              <a:rPr lang="zh-TW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pipDisplay0</a:t>
            </a:r>
            <a:endParaRPr>
              <a:solidFill>
                <a:srgbClr val="434343"/>
              </a:solidFill>
            </a:endParaRPr>
          </a:p>
        </p:txBody>
      </p:sp>
      <p:grpSp>
        <p:nvGrpSpPr>
          <p:cNvPr id="107" name="Google Shape;107;p18"/>
          <p:cNvGrpSpPr/>
          <p:nvPr/>
        </p:nvGrpSpPr>
        <p:grpSpPr>
          <a:xfrm>
            <a:off x="1553875" y="3313725"/>
            <a:ext cx="1670400" cy="1002300"/>
            <a:chOff x="411775" y="3325325"/>
            <a:chExt cx="1670400" cy="1002300"/>
          </a:xfrm>
        </p:grpSpPr>
        <p:sp>
          <p:nvSpPr>
            <p:cNvPr id="108" name="Google Shape;108;p18"/>
            <p:cNvSpPr/>
            <p:nvPr/>
          </p:nvSpPr>
          <p:spPr>
            <a:xfrm>
              <a:off x="411775" y="3325325"/>
              <a:ext cx="1670400" cy="1002300"/>
            </a:xfrm>
            <a:prstGeom prst="roundRect">
              <a:avLst>
                <a:gd fmla="val 16667" name="adj"/>
              </a:avLst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latin typeface="Times New Roman"/>
                  <a:ea typeface="Times New Roman"/>
                  <a:cs typeface="Times New Roman"/>
                  <a:sym typeface="Times New Roman"/>
                </a:rPr>
                <a:t>Stream</a:t>
              </a:r>
              <a:endParaRPr/>
            </a:p>
          </p:txBody>
        </p:sp>
        <p:sp>
          <p:nvSpPr>
            <p:cNvPr id="109" name="Google Shape;109;p18"/>
            <p:cNvSpPr/>
            <p:nvPr/>
          </p:nvSpPr>
          <p:spPr>
            <a:xfrm>
              <a:off x="411775" y="3702125"/>
              <a:ext cx="556200" cy="248700"/>
            </a:xfrm>
            <a:prstGeom prst="roundRect">
              <a:avLst>
                <a:gd fmla="val 16667" name="adj"/>
              </a:avLst>
            </a:prstGeom>
            <a:solidFill>
              <a:srgbClr val="99999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sink</a:t>
              </a:r>
              <a:endParaRPr/>
            </a:p>
          </p:txBody>
        </p:sp>
        <p:sp>
          <p:nvSpPr>
            <p:cNvPr id="110" name="Google Shape;110;p18"/>
            <p:cNvSpPr/>
            <p:nvPr/>
          </p:nvSpPr>
          <p:spPr>
            <a:xfrm>
              <a:off x="1525975" y="3702125"/>
              <a:ext cx="556200" cy="248700"/>
            </a:xfrm>
            <a:prstGeom prst="roundRect">
              <a:avLst>
                <a:gd fmla="val 16667" name="adj"/>
              </a:avLst>
            </a:prstGeom>
            <a:solidFill>
              <a:srgbClr val="99999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src</a:t>
              </a:r>
              <a:endParaRPr/>
            </a:p>
          </p:txBody>
        </p:sp>
      </p:grpSp>
      <p:cxnSp>
        <p:nvCxnSpPr>
          <p:cNvPr id="111" name="Google Shape;111;p18"/>
          <p:cNvCxnSpPr/>
          <p:nvPr/>
        </p:nvCxnSpPr>
        <p:spPr>
          <a:xfrm>
            <a:off x="1006575" y="3006825"/>
            <a:ext cx="3600" cy="1616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12" name="Google Shape;112;p18"/>
          <p:cNvCxnSpPr/>
          <p:nvPr/>
        </p:nvCxnSpPr>
        <p:spPr>
          <a:xfrm>
            <a:off x="310775" y="3807125"/>
            <a:ext cx="1243200" cy="6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13" name="Google Shape;113;p18"/>
          <p:cNvSpPr txBox="1"/>
          <p:nvPr/>
        </p:nvSpPr>
        <p:spPr>
          <a:xfrm>
            <a:off x="0" y="2940800"/>
            <a:ext cx="1134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192.168.1.6</a:t>
            </a:r>
            <a:b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50000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4" name="Google Shape;11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2075" y="2875575"/>
            <a:ext cx="2705974" cy="167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/>
          <p:nvPr/>
        </p:nvSpPr>
        <p:spPr>
          <a:xfrm>
            <a:off x="3767975" y="3313725"/>
            <a:ext cx="1670400" cy="10023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parent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4793550" y="3942200"/>
            <a:ext cx="556200" cy="3108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latin typeface="Times New Roman"/>
                <a:ea typeface="Times New Roman"/>
                <a:cs typeface="Times New Roman"/>
                <a:sym typeface="Times New Roman"/>
              </a:rPr>
              <a:t>child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7" name="Google Shape;117;p18"/>
          <p:cNvCxnSpPr>
            <a:stCxn id="110" idx="3"/>
            <a:endCxn id="116" idx="1"/>
          </p:cNvCxnSpPr>
          <p:nvPr/>
        </p:nvCxnSpPr>
        <p:spPr>
          <a:xfrm>
            <a:off x="3224275" y="3814875"/>
            <a:ext cx="1569300" cy="28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8" name="Google Shape;118;p18"/>
          <p:cNvSpPr txBox="1"/>
          <p:nvPr/>
        </p:nvSpPr>
        <p:spPr>
          <a:xfrm>
            <a:off x="5982075" y="2875575"/>
            <a:ext cx="75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parent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8082950" y="4138225"/>
            <a:ext cx="68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child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0" name="Google Shape;120;p18"/>
          <p:cNvCxnSpPr/>
          <p:nvPr/>
        </p:nvCxnSpPr>
        <p:spPr>
          <a:xfrm>
            <a:off x="170925" y="2703825"/>
            <a:ext cx="2703900" cy="78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" name="Google Shape;121;p18"/>
          <p:cNvSpPr txBox="1"/>
          <p:nvPr/>
        </p:nvSpPr>
        <p:spPr>
          <a:xfrm>
            <a:off x="2928438" y="244742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PiP mode, the mapping applies to the child.</a:t>
            </a:r>
            <a:endParaRPr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4933900" y="571975"/>
            <a:ext cx="1592700" cy="4506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UiChildActivity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18"/>
          <p:cNvSpPr txBox="1"/>
          <p:nvPr/>
        </p:nvSpPr>
        <p:spPr>
          <a:xfrm>
            <a:off x="4933900" y="1022575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B45F0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UiChildActivity is currently set to receive the source from the flexCompositor mapping</a:t>
            </a:r>
            <a:endParaRPr>
              <a:solidFill>
                <a:srgbClr val="B45F0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type="title"/>
          </p:nvPr>
        </p:nvSpPr>
        <p:spPr>
          <a:xfrm>
            <a:off x="58350" y="62925"/>
            <a:ext cx="902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flexCompositor - pip screen element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1926850" y="839125"/>
            <a:ext cx="2074500" cy="722700"/>
          </a:xfrm>
          <a:prstGeom prst="rect">
            <a:avLst/>
          </a:prstGeom>
          <a:solidFill>
            <a:srgbClr val="8E7C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Window Manager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addView()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1926850" y="1810200"/>
            <a:ext cx="2074500" cy="722700"/>
          </a:xfrm>
          <a:prstGeom prst="rect">
            <a:avLst/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Wrap into an 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Activity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19"/>
          <p:cNvSpPr txBox="1"/>
          <p:nvPr/>
        </p:nvSpPr>
        <p:spPr>
          <a:xfrm>
            <a:off x="121300" y="1294525"/>
            <a:ext cx="1432500" cy="722700"/>
          </a:xfrm>
          <a:prstGeom prst="rect">
            <a:avLst/>
          </a:prstGeom>
          <a:solidFill>
            <a:srgbClr val="6FA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SurfaceView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1926850" y="2626137"/>
            <a:ext cx="1592700" cy="4506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UiChildActivity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2556200" y="2191050"/>
            <a:ext cx="854700" cy="303000"/>
          </a:xfrm>
          <a:prstGeom prst="rect">
            <a:avLst/>
          </a:prstGeom>
          <a:noFill/>
          <a:ln cap="flat" cmpd="sng" w="285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5" name="Google Shape;135;p19"/>
          <p:cNvCxnSpPr>
            <a:stCxn id="134" idx="2"/>
            <a:endCxn id="133" idx="0"/>
          </p:cNvCxnSpPr>
          <p:nvPr/>
        </p:nvCxnSpPr>
        <p:spPr>
          <a:xfrm flipH="1">
            <a:off x="2723150" y="2494050"/>
            <a:ext cx="260400" cy="132000"/>
          </a:xfrm>
          <a:prstGeom prst="straightConnector1">
            <a:avLst/>
          </a:prstGeom>
          <a:noFill/>
          <a:ln cap="flat" cmpd="sng" w="38100">
            <a:solidFill>
              <a:srgbClr val="FFD9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" name="Google Shape;136;p19"/>
          <p:cNvCxnSpPr>
            <a:stCxn id="132" idx="3"/>
            <a:endCxn id="130" idx="1"/>
          </p:cNvCxnSpPr>
          <p:nvPr/>
        </p:nvCxnSpPr>
        <p:spPr>
          <a:xfrm flipH="1" rot="10800000">
            <a:off x="1553800" y="1200475"/>
            <a:ext cx="373200" cy="45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7" name="Google Shape;137;p19"/>
          <p:cNvCxnSpPr>
            <a:stCxn id="132" idx="3"/>
            <a:endCxn id="131" idx="1"/>
          </p:cNvCxnSpPr>
          <p:nvPr/>
        </p:nvCxnSpPr>
        <p:spPr>
          <a:xfrm>
            <a:off x="1553800" y="1655875"/>
            <a:ext cx="373200" cy="51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8" name="Google Shape;138;p19"/>
          <p:cNvSpPr txBox="1"/>
          <p:nvPr/>
        </p:nvSpPr>
        <p:spPr>
          <a:xfrm>
            <a:off x="4094625" y="892675"/>
            <a:ext cx="366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AutoNum type="arabicPeriod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Floating window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AutoNum type="arabicPeriod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Allows specifying exact position and size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19"/>
          <p:cNvSpPr txBox="1"/>
          <p:nvPr/>
        </p:nvSpPr>
        <p:spPr>
          <a:xfrm>
            <a:off x="4094625" y="1863750"/>
            <a:ext cx="3667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AutoNum type="arabicPeriod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Activity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AutoNum type="arabicPeriod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The layout position is not controllable and is entirely managed by the system.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0" name="Google Shape;14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1950" y="2761984"/>
            <a:ext cx="5319650" cy="2013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1" name="Google Shape;141;p19"/>
          <p:cNvCxnSpPr/>
          <p:nvPr/>
        </p:nvCxnSpPr>
        <p:spPr>
          <a:xfrm>
            <a:off x="3651725" y="2393050"/>
            <a:ext cx="388500" cy="497400"/>
          </a:xfrm>
          <a:prstGeom prst="straightConnector1">
            <a:avLst/>
          </a:prstGeom>
          <a:noFill/>
          <a:ln cap="flat" cmpd="sng" w="28575">
            <a:solidFill>
              <a:srgbClr val="C27BA0"/>
            </a:solidFill>
            <a:prstDash val="solid"/>
            <a:round/>
            <a:headEnd len="med" w="med" type="none"/>
            <a:tailEnd len="med" w="med" type="stealth"/>
          </a:ln>
        </p:spPr>
      </p:cxnSp>
      <p:grpSp>
        <p:nvGrpSpPr>
          <p:cNvPr id="142" name="Google Shape;142;p19"/>
          <p:cNvGrpSpPr/>
          <p:nvPr/>
        </p:nvGrpSpPr>
        <p:grpSpPr>
          <a:xfrm rot="-5400000">
            <a:off x="-3029" y="3267100"/>
            <a:ext cx="1670400" cy="1002300"/>
            <a:chOff x="411775" y="3325325"/>
            <a:chExt cx="1670400" cy="1002300"/>
          </a:xfrm>
        </p:grpSpPr>
        <p:sp>
          <p:nvSpPr>
            <p:cNvPr id="143" name="Google Shape;143;p19"/>
            <p:cNvSpPr/>
            <p:nvPr/>
          </p:nvSpPr>
          <p:spPr>
            <a:xfrm>
              <a:off x="411775" y="3325325"/>
              <a:ext cx="1670400" cy="1002300"/>
            </a:xfrm>
            <a:prstGeom prst="roundRect">
              <a:avLst>
                <a:gd fmla="val 16667" name="adj"/>
              </a:avLst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latin typeface="Times New Roman"/>
                  <a:ea typeface="Times New Roman"/>
                  <a:cs typeface="Times New Roman"/>
                  <a:sym typeface="Times New Roman"/>
                </a:rPr>
                <a:t>Stream</a:t>
              </a:r>
              <a:endParaRPr/>
            </a:p>
          </p:txBody>
        </p:sp>
        <p:sp>
          <p:nvSpPr>
            <p:cNvPr id="144" name="Google Shape;144;p19"/>
            <p:cNvSpPr/>
            <p:nvPr/>
          </p:nvSpPr>
          <p:spPr>
            <a:xfrm>
              <a:off x="411775" y="3702125"/>
              <a:ext cx="556200" cy="248700"/>
            </a:xfrm>
            <a:prstGeom prst="roundRect">
              <a:avLst>
                <a:gd fmla="val 16667" name="adj"/>
              </a:avLst>
            </a:prstGeom>
            <a:solidFill>
              <a:srgbClr val="99999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sink</a:t>
              </a:r>
              <a:endParaRPr/>
            </a:p>
          </p:txBody>
        </p:sp>
        <p:sp>
          <p:nvSpPr>
            <p:cNvPr id="145" name="Google Shape;145;p19"/>
            <p:cNvSpPr/>
            <p:nvPr/>
          </p:nvSpPr>
          <p:spPr>
            <a:xfrm>
              <a:off x="1525975" y="3702125"/>
              <a:ext cx="556200" cy="248700"/>
            </a:xfrm>
            <a:prstGeom prst="roundRect">
              <a:avLst>
                <a:gd fmla="val 16667" name="adj"/>
              </a:avLst>
            </a:prstGeom>
            <a:solidFill>
              <a:srgbClr val="99999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src</a:t>
              </a:r>
              <a:endParaRPr/>
            </a:p>
          </p:txBody>
        </p:sp>
      </p:grpSp>
      <p:cxnSp>
        <p:nvCxnSpPr>
          <p:cNvPr id="146" name="Google Shape;146;p19"/>
          <p:cNvCxnSpPr>
            <a:stCxn id="145" idx="3"/>
            <a:endCxn id="132" idx="2"/>
          </p:cNvCxnSpPr>
          <p:nvPr/>
        </p:nvCxnSpPr>
        <p:spPr>
          <a:xfrm flipH="1" rot="10800000">
            <a:off x="832171" y="2017150"/>
            <a:ext cx="5400" cy="91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7" name="Google Shape;147;p19"/>
          <p:cNvSpPr txBox="1"/>
          <p:nvPr/>
        </p:nvSpPr>
        <p:spPr>
          <a:xfrm>
            <a:off x="1592775" y="3352600"/>
            <a:ext cx="1554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order to use the system-provided PiP mode</a:t>
            </a:r>
            <a:endParaRPr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 txBox="1"/>
          <p:nvPr>
            <p:ph type="title"/>
          </p:nvPr>
        </p:nvSpPr>
        <p:spPr>
          <a:xfrm>
            <a:off x="58350" y="62925"/>
            <a:ext cx="902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flexCompositor - pip screen element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20"/>
          <p:cNvSpPr/>
          <p:nvPr/>
        </p:nvSpPr>
        <p:spPr>
          <a:xfrm>
            <a:off x="753625" y="1033375"/>
            <a:ext cx="1173300" cy="9090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0"/>
          <p:cNvSpPr/>
          <p:nvPr/>
        </p:nvSpPr>
        <p:spPr>
          <a:xfrm>
            <a:off x="780925" y="2169193"/>
            <a:ext cx="1118700" cy="675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0"/>
          <p:cNvSpPr/>
          <p:nvPr/>
        </p:nvSpPr>
        <p:spPr>
          <a:xfrm>
            <a:off x="3909093" y="2958793"/>
            <a:ext cx="1118700" cy="675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0"/>
          <p:cNvSpPr txBox="1"/>
          <p:nvPr/>
        </p:nvSpPr>
        <p:spPr>
          <a:xfrm>
            <a:off x="497275" y="1017775"/>
            <a:ext cx="1686000" cy="9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there a new stream buffer?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20"/>
          <p:cNvSpPr/>
          <p:nvPr/>
        </p:nvSpPr>
        <p:spPr>
          <a:xfrm>
            <a:off x="776934" y="3160725"/>
            <a:ext cx="1118700" cy="675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0"/>
          <p:cNvSpPr/>
          <p:nvPr/>
        </p:nvSpPr>
        <p:spPr>
          <a:xfrm>
            <a:off x="2374475" y="1692258"/>
            <a:ext cx="1173300" cy="9090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0"/>
          <p:cNvSpPr txBox="1"/>
          <p:nvPr/>
        </p:nvSpPr>
        <p:spPr>
          <a:xfrm>
            <a:off x="1953425" y="1676658"/>
            <a:ext cx="2015400" cy="9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Counter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&gt;20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2401775" y="2958793"/>
            <a:ext cx="1118700" cy="675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3819700" y="3096650"/>
            <a:ext cx="129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Counter++</a:t>
            </a:r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669925" y="2307050"/>
            <a:ext cx="134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Counter=0</a:t>
            </a:r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672000" y="3298575"/>
            <a:ext cx="129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draw buffer</a:t>
            </a:r>
            <a:endParaRPr/>
          </a:p>
        </p:txBody>
      </p:sp>
      <p:sp>
        <p:nvSpPr>
          <p:cNvPr id="165" name="Google Shape;165;p20"/>
          <p:cNvSpPr txBox="1"/>
          <p:nvPr/>
        </p:nvSpPr>
        <p:spPr>
          <a:xfrm>
            <a:off x="2199875" y="2995025"/>
            <a:ext cx="1522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draw 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Loading circle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97275" y="1735725"/>
            <a:ext cx="5934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TRUE</a:t>
            </a:r>
            <a:endParaRPr sz="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2246875" y="2571750"/>
            <a:ext cx="5934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TRUE</a:t>
            </a:r>
            <a:endParaRPr sz="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2401768" y="4035793"/>
            <a:ext cx="1118700" cy="675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0"/>
          <p:cNvSpPr txBox="1"/>
          <p:nvPr/>
        </p:nvSpPr>
        <p:spPr>
          <a:xfrm>
            <a:off x="2221475" y="4173650"/>
            <a:ext cx="147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delay(17ms)</a:t>
            </a:r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3527350" y="1735725"/>
            <a:ext cx="5934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FALSE</a:t>
            </a:r>
            <a:endParaRPr sz="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1697025" y="1771550"/>
            <a:ext cx="5934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FALSE</a:t>
            </a:r>
            <a:endParaRPr sz="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72" name="Google Shape;172;p20"/>
          <p:cNvCxnSpPr>
            <a:stCxn id="157" idx="2"/>
            <a:endCxn id="155" idx="0"/>
          </p:cNvCxnSpPr>
          <p:nvPr/>
        </p:nvCxnSpPr>
        <p:spPr>
          <a:xfrm>
            <a:off x="1340275" y="1957975"/>
            <a:ext cx="0" cy="21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" name="Google Shape;173;p20"/>
          <p:cNvCxnSpPr>
            <a:stCxn id="155" idx="2"/>
            <a:endCxn id="158" idx="0"/>
          </p:cNvCxnSpPr>
          <p:nvPr/>
        </p:nvCxnSpPr>
        <p:spPr>
          <a:xfrm flipH="1">
            <a:off x="1336375" y="2845093"/>
            <a:ext cx="3900" cy="31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4" name="Google Shape;174;p20"/>
          <p:cNvCxnSpPr>
            <a:stCxn id="158" idx="2"/>
          </p:cNvCxnSpPr>
          <p:nvPr/>
        </p:nvCxnSpPr>
        <p:spPr>
          <a:xfrm flipH="1" rot="5400000">
            <a:off x="-177966" y="2322375"/>
            <a:ext cx="3005400" cy="23100"/>
          </a:xfrm>
          <a:prstGeom prst="bentConnector5">
            <a:avLst>
              <a:gd fmla="val -7923" name="adj1"/>
              <a:gd fmla="val 3452273" name="adj2"/>
              <a:gd fmla="val 99996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5" name="Google Shape;175;p20"/>
          <p:cNvCxnSpPr/>
          <p:nvPr/>
        </p:nvCxnSpPr>
        <p:spPr>
          <a:xfrm>
            <a:off x="1328650" y="683818"/>
            <a:ext cx="3600" cy="36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6" name="Google Shape;176;p20"/>
          <p:cNvCxnSpPr>
            <a:endCxn id="160" idx="0"/>
          </p:cNvCxnSpPr>
          <p:nvPr/>
        </p:nvCxnSpPr>
        <p:spPr>
          <a:xfrm>
            <a:off x="1926725" y="1476258"/>
            <a:ext cx="1034400" cy="200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7" name="Google Shape;177;p20"/>
          <p:cNvCxnSpPr>
            <a:stCxn id="160" idx="2"/>
            <a:endCxn id="161" idx="0"/>
          </p:cNvCxnSpPr>
          <p:nvPr/>
        </p:nvCxnSpPr>
        <p:spPr>
          <a:xfrm>
            <a:off x="2961125" y="2616858"/>
            <a:ext cx="0" cy="34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8" name="Google Shape;178;p20"/>
          <p:cNvCxnSpPr>
            <a:stCxn id="161" idx="2"/>
            <a:endCxn id="168" idx="0"/>
          </p:cNvCxnSpPr>
          <p:nvPr/>
        </p:nvCxnSpPr>
        <p:spPr>
          <a:xfrm>
            <a:off x="2961125" y="3634693"/>
            <a:ext cx="0" cy="40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" name="Google Shape;179;p20"/>
          <p:cNvCxnSpPr>
            <a:endCxn id="156" idx="0"/>
          </p:cNvCxnSpPr>
          <p:nvPr/>
        </p:nvCxnSpPr>
        <p:spPr>
          <a:xfrm>
            <a:off x="3527343" y="2152093"/>
            <a:ext cx="941100" cy="806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" name="Google Shape;180;p20"/>
          <p:cNvCxnSpPr>
            <a:stCxn id="168" idx="2"/>
          </p:cNvCxnSpPr>
          <p:nvPr/>
        </p:nvCxnSpPr>
        <p:spPr>
          <a:xfrm flipH="1" rot="5400000">
            <a:off x="1828468" y="3579043"/>
            <a:ext cx="632700" cy="1632600"/>
          </a:xfrm>
          <a:prstGeom prst="bentConnector4">
            <a:avLst>
              <a:gd fmla="val -37636" name="adj1"/>
              <a:gd fmla="val 67131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" name="Google Shape;181;p20"/>
          <p:cNvCxnSpPr>
            <a:stCxn id="156" idx="2"/>
          </p:cNvCxnSpPr>
          <p:nvPr/>
        </p:nvCxnSpPr>
        <p:spPr>
          <a:xfrm rot="5400000">
            <a:off x="3608793" y="2994043"/>
            <a:ext cx="219000" cy="15003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82" name="Google Shape;18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9125" y="3160726"/>
            <a:ext cx="2772551" cy="171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49125" y="648125"/>
            <a:ext cx="2705974" cy="167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6096175" y="2571750"/>
            <a:ext cx="1500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draw 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Loading circle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6149125" y="247925"/>
            <a:ext cx="150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draw buffer</a:t>
            </a:r>
            <a:endParaRPr/>
          </a:p>
        </p:txBody>
      </p:sp>
      <p:sp>
        <p:nvSpPr>
          <p:cNvPr id="186" name="Google Shape;18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6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1"/>
          <p:cNvSpPr txBox="1"/>
          <p:nvPr>
            <p:ph type="title"/>
          </p:nvPr>
        </p:nvSpPr>
        <p:spPr>
          <a:xfrm>
            <a:off x="58350" y="62925"/>
            <a:ext cx="902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flexCompositor - pip screen element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2" name="Google Shape;19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550" y="635625"/>
            <a:ext cx="2901075" cy="192357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1"/>
          <p:cNvSpPr/>
          <p:nvPr/>
        </p:nvSpPr>
        <p:spPr>
          <a:xfrm>
            <a:off x="2610600" y="1344150"/>
            <a:ext cx="279600" cy="2487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4" name="Google Shape;19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7000" y="674400"/>
            <a:ext cx="3071149" cy="1846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/>
          <p:nvPr/>
        </p:nvSpPr>
        <p:spPr>
          <a:xfrm>
            <a:off x="3317625" y="1452925"/>
            <a:ext cx="400200" cy="139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6" name="Google Shape;19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4550" y="2696050"/>
            <a:ext cx="3474974" cy="72257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 txBox="1"/>
          <p:nvPr/>
        </p:nvSpPr>
        <p:spPr>
          <a:xfrm>
            <a:off x="3795525" y="2710975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lang="zh-TW" sz="1100"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zh-TW" sz="11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onPictureInPictureModeChanged</a:t>
            </a:r>
            <a:r>
              <a:rPr lang="zh-TW" sz="1100">
                <a:latin typeface="Times New Roman"/>
                <a:ea typeface="Times New Roman"/>
                <a:cs typeface="Times New Roman"/>
                <a:sym typeface="Times New Roman"/>
              </a:rPr>
              <a:t> callback indicates when PIP mode has been exited.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8" name="Google Shape;198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4549" y="3477775"/>
            <a:ext cx="4504183" cy="160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03149" y="3721650"/>
            <a:ext cx="2440849" cy="14218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 txBox="1"/>
          <p:nvPr/>
        </p:nvSpPr>
        <p:spPr>
          <a:xfrm>
            <a:off x="3403100" y="4450800"/>
            <a:ext cx="3000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lang="zh-TW" sz="1100">
                <a:latin typeface="Times New Roman"/>
                <a:ea typeface="Times New Roman"/>
                <a:cs typeface="Times New Roman"/>
                <a:sym typeface="Times New Roman"/>
              </a:rPr>
              <a:t>At this point, </a:t>
            </a:r>
            <a:r>
              <a:rPr lang="zh-TW" sz="11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startActivity</a:t>
            </a:r>
            <a:r>
              <a:rPr lang="zh-TW" sz="1100">
                <a:latin typeface="Times New Roman"/>
                <a:ea typeface="Times New Roman"/>
                <a:cs typeface="Times New Roman"/>
                <a:sym typeface="Times New Roman"/>
              </a:rPr>
              <a:t> is used to launch the </a:t>
            </a:r>
            <a:r>
              <a:rPr lang="zh-TW" sz="11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ParentActivity</a:t>
            </a:r>
            <a:r>
              <a:rPr lang="zh-TW" sz="1100">
                <a:latin typeface="Times New Roman"/>
                <a:ea typeface="Times New Roman"/>
                <a:cs typeface="Times New Roman"/>
                <a:sym typeface="Times New Roman"/>
              </a:rPr>
              <a:t>, along </a:t>
            </a:r>
            <a:r>
              <a:rPr lang="zh-TW" sz="1100">
                <a:solidFill>
                  <a:srgbClr val="F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information indicating that it should enter PIP mode</a:t>
            </a:r>
            <a:r>
              <a:rPr lang="zh-TW" sz="11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688500" y="4155696"/>
            <a:ext cx="3724500" cy="139800"/>
          </a:xfrm>
          <a:prstGeom prst="rect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2" name="Google Shape;202;p21"/>
          <p:cNvCxnSpPr/>
          <p:nvPr/>
        </p:nvCxnSpPr>
        <p:spPr>
          <a:xfrm>
            <a:off x="0" y="3434175"/>
            <a:ext cx="9168300" cy="7800"/>
          </a:xfrm>
          <a:prstGeom prst="straightConnector1">
            <a:avLst/>
          </a:prstGeom>
          <a:noFill/>
          <a:ln cap="flat" cmpd="sng" w="38100">
            <a:solidFill>
              <a:srgbClr val="4A86E8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03" name="Google Shape;20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7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2"/>
          <p:cNvSpPr txBox="1"/>
          <p:nvPr>
            <p:ph type="title"/>
          </p:nvPr>
        </p:nvSpPr>
        <p:spPr>
          <a:xfrm>
            <a:off x="58350" y="62925"/>
            <a:ext cx="902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Request - securityAlert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22"/>
          <p:cNvSpPr txBox="1"/>
          <p:nvPr/>
        </p:nvSpPr>
        <p:spPr>
          <a:xfrm>
            <a:off x="730350" y="1010025"/>
            <a:ext cx="3123300" cy="1002300"/>
          </a:xfrm>
          <a:prstGeom prst="rect">
            <a:avLst/>
          </a:prstGeom>
          <a:noFill/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FFFF"/>
                </a:solidFill>
              </a:rPr>
              <a:t>“Type: jsonRequest\r\n”</a:t>
            </a:r>
            <a:br>
              <a:rPr lang="zh-TW">
                <a:solidFill>
                  <a:srgbClr val="FFFFFF"/>
                </a:solidFill>
              </a:rPr>
            </a:br>
            <a:r>
              <a:rPr lang="zh-TW">
                <a:solidFill>
                  <a:srgbClr val="FFFFFF"/>
                </a:solidFill>
              </a:rPr>
              <a:t>“Length: &lt;decValue&gt;\r\n”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FFFF"/>
                </a:solidFill>
              </a:rPr>
              <a:t>“Checksum: &lt;4digit hexValue&gt;\r\n”</a:t>
            </a:r>
            <a:br>
              <a:rPr lang="zh-TW">
                <a:solidFill>
                  <a:srgbClr val="FFFFFF"/>
                </a:solidFill>
              </a:rPr>
            </a:br>
            <a:r>
              <a:rPr lang="zh-TW">
                <a:solidFill>
                  <a:srgbClr val="FFFFFF"/>
                </a:solidFill>
              </a:rPr>
              <a:t>“\r\n”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10" name="Google Shape;210;p22"/>
          <p:cNvSpPr txBox="1"/>
          <p:nvPr/>
        </p:nvSpPr>
        <p:spPr>
          <a:xfrm>
            <a:off x="217575" y="528325"/>
            <a:ext cx="9789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FFFF"/>
                </a:solidFill>
              </a:rPr>
              <a:t>Launcher</a:t>
            </a:r>
            <a:endParaRPr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FFFF"/>
                </a:solidFill>
              </a:rPr>
              <a:t>(client)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3037925" y="528325"/>
            <a:ext cx="15744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>
                <a:solidFill>
                  <a:srgbClr val="FFFFFF"/>
                </a:solidFill>
              </a:rPr>
              <a:t>FlexCompositor</a:t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>
                <a:solidFill>
                  <a:srgbClr val="FFFFFF"/>
                </a:solidFill>
              </a:rPr>
              <a:t>(server)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12" name="Google Shape;212;p22"/>
          <p:cNvSpPr txBox="1"/>
          <p:nvPr/>
        </p:nvSpPr>
        <p:spPr>
          <a:xfrm>
            <a:off x="1724250" y="2241475"/>
            <a:ext cx="1135500" cy="400200"/>
          </a:xfrm>
          <a:prstGeom prst="rect">
            <a:avLst/>
          </a:prstGeom>
          <a:noFill/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FFFF"/>
                </a:solidFill>
              </a:rPr>
              <a:t>JSON data</a:t>
            </a:r>
            <a:endParaRPr/>
          </a:p>
        </p:txBody>
      </p:sp>
      <p:cxnSp>
        <p:nvCxnSpPr>
          <p:cNvPr id="213" name="Google Shape;213;p22"/>
          <p:cNvCxnSpPr/>
          <p:nvPr/>
        </p:nvCxnSpPr>
        <p:spPr>
          <a:xfrm flipH="1">
            <a:off x="559350" y="1157725"/>
            <a:ext cx="15600" cy="3714000"/>
          </a:xfrm>
          <a:prstGeom prst="straightConnector1">
            <a:avLst/>
          </a:prstGeom>
          <a:noFill/>
          <a:ln cap="flat" cmpd="sng" w="38100">
            <a:solidFill>
              <a:srgbClr val="4285F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" name="Google Shape;214;p22"/>
          <p:cNvSpPr txBox="1"/>
          <p:nvPr/>
        </p:nvSpPr>
        <p:spPr>
          <a:xfrm>
            <a:off x="736663" y="2870825"/>
            <a:ext cx="3123300" cy="1002300"/>
          </a:xfrm>
          <a:prstGeom prst="rect">
            <a:avLst/>
          </a:prstGeom>
          <a:noFill/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>
                <a:solidFill>
                  <a:srgbClr val="FFFFFF"/>
                </a:solidFill>
              </a:rPr>
              <a:t>“Type: jsonResponse\r\n”</a:t>
            </a:r>
            <a:br>
              <a:rPr lang="zh-TW">
                <a:solidFill>
                  <a:srgbClr val="FFFFFF"/>
                </a:solidFill>
              </a:rPr>
            </a:br>
            <a:r>
              <a:rPr lang="zh-TW">
                <a:solidFill>
                  <a:srgbClr val="FFFFFF"/>
                </a:solidFill>
              </a:rPr>
              <a:t>“Length: &lt;decValue&gt;\r\n”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>
                <a:solidFill>
                  <a:srgbClr val="FFFFFF"/>
                </a:solidFill>
              </a:rPr>
              <a:t>“Checksum: &lt;4digit hexValue&gt;\r\n”</a:t>
            </a:r>
            <a:br>
              <a:rPr lang="zh-TW">
                <a:solidFill>
                  <a:srgbClr val="FFFFFF"/>
                </a:solidFill>
              </a:rPr>
            </a:br>
            <a:r>
              <a:rPr lang="zh-TW">
                <a:solidFill>
                  <a:srgbClr val="FFFFFF"/>
                </a:solidFill>
              </a:rPr>
              <a:t>“\r\n”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15" name="Google Shape;215;p22"/>
          <p:cNvSpPr txBox="1"/>
          <p:nvPr/>
        </p:nvSpPr>
        <p:spPr>
          <a:xfrm>
            <a:off x="1730563" y="4102275"/>
            <a:ext cx="1135500" cy="400200"/>
          </a:xfrm>
          <a:prstGeom prst="rect">
            <a:avLst/>
          </a:prstGeom>
          <a:noFill/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FFFF"/>
                </a:solidFill>
              </a:rPr>
              <a:t>JSON data</a:t>
            </a:r>
            <a:endParaRPr/>
          </a:p>
        </p:txBody>
      </p:sp>
      <p:cxnSp>
        <p:nvCxnSpPr>
          <p:cNvPr id="216" name="Google Shape;216;p22"/>
          <p:cNvCxnSpPr/>
          <p:nvPr/>
        </p:nvCxnSpPr>
        <p:spPr>
          <a:xfrm flipH="1">
            <a:off x="4021700" y="1157725"/>
            <a:ext cx="15600" cy="3714000"/>
          </a:xfrm>
          <a:prstGeom prst="straightConnector1">
            <a:avLst/>
          </a:prstGeom>
          <a:noFill/>
          <a:ln cap="flat" cmpd="sng" w="38100">
            <a:solidFill>
              <a:srgbClr val="4285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" name="Google Shape;217;p22"/>
          <p:cNvCxnSpPr/>
          <p:nvPr/>
        </p:nvCxnSpPr>
        <p:spPr>
          <a:xfrm>
            <a:off x="590500" y="2012325"/>
            <a:ext cx="3426600" cy="7800"/>
          </a:xfrm>
          <a:prstGeom prst="straightConnector1">
            <a:avLst/>
          </a:prstGeom>
          <a:noFill/>
          <a:ln cap="flat" cmpd="sng" w="9525">
            <a:solidFill>
              <a:srgbClr val="4285F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8" name="Google Shape;218;p22"/>
          <p:cNvCxnSpPr/>
          <p:nvPr/>
        </p:nvCxnSpPr>
        <p:spPr>
          <a:xfrm>
            <a:off x="574950" y="2633900"/>
            <a:ext cx="3480900" cy="15600"/>
          </a:xfrm>
          <a:prstGeom prst="straightConnector1">
            <a:avLst/>
          </a:prstGeom>
          <a:noFill/>
          <a:ln cap="flat" cmpd="sng" w="9525">
            <a:solidFill>
              <a:srgbClr val="4285F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9" name="Google Shape;219;p22"/>
          <p:cNvCxnSpPr/>
          <p:nvPr/>
        </p:nvCxnSpPr>
        <p:spPr>
          <a:xfrm rot="10800000">
            <a:off x="551750" y="3877025"/>
            <a:ext cx="3504000" cy="7800"/>
          </a:xfrm>
          <a:prstGeom prst="straightConnector1">
            <a:avLst/>
          </a:prstGeom>
          <a:noFill/>
          <a:ln cap="flat" cmpd="sng" w="9525">
            <a:solidFill>
              <a:srgbClr val="4285F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0" name="Google Shape;220;p22"/>
          <p:cNvCxnSpPr/>
          <p:nvPr/>
        </p:nvCxnSpPr>
        <p:spPr>
          <a:xfrm rot="10800000">
            <a:off x="528800" y="4502400"/>
            <a:ext cx="3488100" cy="27300"/>
          </a:xfrm>
          <a:prstGeom prst="straightConnector1">
            <a:avLst/>
          </a:prstGeom>
          <a:noFill/>
          <a:ln cap="flat" cmpd="sng" w="9525">
            <a:solidFill>
              <a:srgbClr val="4285F4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221" name="Google Shape;221;p22"/>
          <p:cNvGraphicFramePr/>
          <p:nvPr/>
        </p:nvGraphicFramePr>
        <p:xfrm>
          <a:off x="4777725" y="328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{47747C77-45E1-4B95-9846-36C6299D6EEB}</a:tableStyleId>
              </a:tblPr>
              <a:tblGrid>
                <a:gridCol w="1100425"/>
                <a:gridCol w="830250"/>
                <a:gridCol w="2029525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securityAlert</a:t>
                      </a:r>
                      <a:endParaRPr sz="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field</a:t>
                      </a:r>
                      <a:endParaRPr sz="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required</a:t>
                      </a:r>
                      <a:endParaRPr sz="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nessage</a:t>
                      </a:r>
                      <a:endParaRPr sz="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 alert event similar to detecting a person</a:t>
                      </a:r>
                      <a:endParaRPr sz="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2" name="Google Shape;222;p22"/>
          <p:cNvSpPr txBox="1"/>
          <p:nvPr/>
        </p:nvSpPr>
        <p:spPr>
          <a:xfrm>
            <a:off x="4777675" y="1675525"/>
            <a:ext cx="3960300" cy="16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rgbClr val="FFFFFF"/>
                </a:solidFill>
              </a:rPr>
              <a:t>{</a:t>
            </a:r>
            <a:endParaRPr sz="15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rgbClr val="FFFFFF"/>
                </a:solidFill>
              </a:rPr>
              <a:t>  “</a:t>
            </a:r>
            <a:r>
              <a:rPr lang="zh-TW" sz="1500">
                <a:solidFill>
                  <a:srgbClr val="FFFFFF"/>
                </a:solidFill>
              </a:rPr>
              <a:t>securityAlert</a:t>
            </a:r>
            <a:r>
              <a:rPr lang="zh-TW" sz="1500">
                <a:solidFill>
                  <a:srgbClr val="FFFFFF"/>
                </a:solidFill>
              </a:rPr>
              <a:t>”:[</a:t>
            </a:r>
            <a:endParaRPr sz="15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rgbClr val="FFFFFF"/>
                </a:solidFill>
              </a:rPr>
              <a:t>    {“message”: “people detect”}</a:t>
            </a:r>
            <a:endParaRPr sz="15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rgbClr val="FFFFFF"/>
                </a:solidFill>
              </a:rPr>
              <a:t>  ]</a:t>
            </a:r>
            <a:endParaRPr sz="15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rgbClr val="FFFFFF"/>
                </a:solidFill>
              </a:rPr>
              <a:t>}</a:t>
            </a:r>
            <a:endParaRPr sz="1500">
              <a:solidFill>
                <a:srgbClr val="FFFFFF"/>
              </a:solidFill>
            </a:endParaRPr>
          </a:p>
        </p:txBody>
      </p:sp>
      <p:cxnSp>
        <p:nvCxnSpPr>
          <p:cNvPr id="223" name="Google Shape;223;p22"/>
          <p:cNvCxnSpPr>
            <a:stCxn id="212" idx="3"/>
          </p:cNvCxnSpPr>
          <p:nvPr/>
        </p:nvCxnSpPr>
        <p:spPr>
          <a:xfrm>
            <a:off x="2859750" y="2441575"/>
            <a:ext cx="1422600" cy="54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4" name="Google Shape;224;p22"/>
          <p:cNvSpPr/>
          <p:nvPr/>
        </p:nvSpPr>
        <p:spPr>
          <a:xfrm>
            <a:off x="4425425" y="356225"/>
            <a:ext cx="182400" cy="4483800"/>
          </a:xfrm>
          <a:prstGeom prst="leftBrace">
            <a:avLst>
              <a:gd fmla="val 50000" name="adj1"/>
              <a:gd fmla="val 45940" name="adj2"/>
            </a:avLst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3637100" y="411900"/>
            <a:ext cx="7848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tcp(:50000)</a:t>
            </a:r>
            <a:endParaRPr sz="1000">
              <a:solidFill>
                <a:srgbClr val="FF99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6" name="Google Shape;22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2325" y="3378475"/>
            <a:ext cx="1937474" cy="128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85768" y="3410300"/>
            <a:ext cx="2096074" cy="122101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/>
          <p:nvPr/>
        </p:nvSpPr>
        <p:spPr>
          <a:xfrm>
            <a:off x="6562266" y="3950900"/>
            <a:ext cx="400200" cy="139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8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3"/>
          <p:cNvSpPr txBox="1"/>
          <p:nvPr>
            <p:ph type="title"/>
          </p:nvPr>
        </p:nvSpPr>
        <p:spPr>
          <a:xfrm>
            <a:off x="58350" y="62925"/>
            <a:ext cx="902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Response- securityAlert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p23"/>
          <p:cNvSpPr txBox="1"/>
          <p:nvPr/>
        </p:nvSpPr>
        <p:spPr>
          <a:xfrm>
            <a:off x="730350" y="1010025"/>
            <a:ext cx="3123300" cy="1002300"/>
          </a:xfrm>
          <a:prstGeom prst="rect">
            <a:avLst/>
          </a:prstGeom>
          <a:noFill/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FFFF"/>
                </a:solidFill>
              </a:rPr>
              <a:t>“Type: jsonRequest\r\n”</a:t>
            </a:r>
            <a:br>
              <a:rPr lang="zh-TW">
                <a:solidFill>
                  <a:srgbClr val="FFFFFF"/>
                </a:solidFill>
              </a:rPr>
            </a:br>
            <a:r>
              <a:rPr lang="zh-TW">
                <a:solidFill>
                  <a:srgbClr val="FFFFFF"/>
                </a:solidFill>
              </a:rPr>
              <a:t>“Length: &lt;decValue&gt;\r\n”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FFFF"/>
                </a:solidFill>
              </a:rPr>
              <a:t>“Checksum: &lt;4digit hexValue&gt;\r\n”</a:t>
            </a:r>
            <a:br>
              <a:rPr lang="zh-TW">
                <a:solidFill>
                  <a:srgbClr val="FFFFFF"/>
                </a:solidFill>
              </a:rPr>
            </a:br>
            <a:r>
              <a:rPr lang="zh-TW">
                <a:solidFill>
                  <a:srgbClr val="FFFFFF"/>
                </a:solidFill>
              </a:rPr>
              <a:t>“\r\n”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36" name="Google Shape;236;p23"/>
          <p:cNvSpPr txBox="1"/>
          <p:nvPr/>
        </p:nvSpPr>
        <p:spPr>
          <a:xfrm>
            <a:off x="217575" y="528325"/>
            <a:ext cx="9789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FFFF"/>
                </a:solidFill>
              </a:rPr>
              <a:t>Launcher</a:t>
            </a:r>
            <a:endParaRPr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FFFF"/>
                </a:solidFill>
              </a:rPr>
              <a:t>(client)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37" name="Google Shape;237;p23"/>
          <p:cNvSpPr txBox="1"/>
          <p:nvPr/>
        </p:nvSpPr>
        <p:spPr>
          <a:xfrm>
            <a:off x="2982625" y="532225"/>
            <a:ext cx="17460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>
                <a:solidFill>
                  <a:srgbClr val="FFFFFF"/>
                </a:solidFill>
              </a:rPr>
              <a:t>FlexCompositor</a:t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>
                <a:solidFill>
                  <a:srgbClr val="FFFFFF"/>
                </a:solidFill>
              </a:rPr>
              <a:t>(server)</a:t>
            </a:r>
            <a:endParaRPr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38" name="Google Shape;238;p23"/>
          <p:cNvSpPr txBox="1"/>
          <p:nvPr/>
        </p:nvSpPr>
        <p:spPr>
          <a:xfrm>
            <a:off x="1724250" y="2241475"/>
            <a:ext cx="1135500" cy="400200"/>
          </a:xfrm>
          <a:prstGeom prst="rect">
            <a:avLst/>
          </a:prstGeom>
          <a:noFill/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FFFF"/>
                </a:solidFill>
              </a:rPr>
              <a:t>JSON data</a:t>
            </a:r>
            <a:endParaRPr/>
          </a:p>
        </p:txBody>
      </p:sp>
      <p:cxnSp>
        <p:nvCxnSpPr>
          <p:cNvPr id="239" name="Google Shape;239;p23"/>
          <p:cNvCxnSpPr/>
          <p:nvPr/>
        </p:nvCxnSpPr>
        <p:spPr>
          <a:xfrm flipH="1">
            <a:off x="559350" y="1157725"/>
            <a:ext cx="15600" cy="3714000"/>
          </a:xfrm>
          <a:prstGeom prst="straightConnector1">
            <a:avLst/>
          </a:prstGeom>
          <a:noFill/>
          <a:ln cap="flat" cmpd="sng" w="38100">
            <a:solidFill>
              <a:srgbClr val="4285F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" name="Google Shape;240;p23"/>
          <p:cNvSpPr txBox="1"/>
          <p:nvPr/>
        </p:nvSpPr>
        <p:spPr>
          <a:xfrm>
            <a:off x="736663" y="2870825"/>
            <a:ext cx="3123300" cy="1002300"/>
          </a:xfrm>
          <a:prstGeom prst="rect">
            <a:avLst/>
          </a:prstGeom>
          <a:noFill/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FFFF"/>
                </a:solidFill>
              </a:rPr>
              <a:t>“Type: jsonResponse\r\n”</a:t>
            </a:r>
            <a:br>
              <a:rPr lang="zh-TW">
                <a:solidFill>
                  <a:srgbClr val="FFFFFF"/>
                </a:solidFill>
              </a:rPr>
            </a:br>
            <a:r>
              <a:rPr lang="zh-TW">
                <a:solidFill>
                  <a:srgbClr val="FFFFFF"/>
                </a:solidFill>
              </a:rPr>
              <a:t>“Length: &lt;decValue&gt;\r\n”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FFFF"/>
                </a:solidFill>
              </a:rPr>
              <a:t>“Checksum: &lt;4digit hexValue&gt;\r\n”</a:t>
            </a:r>
            <a:br>
              <a:rPr lang="zh-TW">
                <a:solidFill>
                  <a:srgbClr val="FFFFFF"/>
                </a:solidFill>
              </a:rPr>
            </a:br>
            <a:r>
              <a:rPr lang="zh-TW">
                <a:solidFill>
                  <a:srgbClr val="FFFFFF"/>
                </a:solidFill>
              </a:rPr>
              <a:t>“\r\n”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41" name="Google Shape;241;p23"/>
          <p:cNvSpPr txBox="1"/>
          <p:nvPr/>
        </p:nvSpPr>
        <p:spPr>
          <a:xfrm>
            <a:off x="1730563" y="4102275"/>
            <a:ext cx="1135500" cy="400200"/>
          </a:xfrm>
          <a:prstGeom prst="rect">
            <a:avLst/>
          </a:prstGeom>
          <a:noFill/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FFFF"/>
                </a:solidFill>
              </a:rPr>
              <a:t>JSON data</a:t>
            </a:r>
            <a:endParaRPr/>
          </a:p>
        </p:txBody>
      </p:sp>
      <p:cxnSp>
        <p:nvCxnSpPr>
          <p:cNvPr id="242" name="Google Shape;242;p23"/>
          <p:cNvCxnSpPr/>
          <p:nvPr/>
        </p:nvCxnSpPr>
        <p:spPr>
          <a:xfrm flipH="1">
            <a:off x="4021700" y="1157725"/>
            <a:ext cx="15600" cy="3714000"/>
          </a:xfrm>
          <a:prstGeom prst="straightConnector1">
            <a:avLst/>
          </a:prstGeom>
          <a:noFill/>
          <a:ln cap="flat" cmpd="sng" w="38100">
            <a:solidFill>
              <a:srgbClr val="4285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" name="Google Shape;243;p23"/>
          <p:cNvCxnSpPr/>
          <p:nvPr/>
        </p:nvCxnSpPr>
        <p:spPr>
          <a:xfrm>
            <a:off x="590500" y="2012325"/>
            <a:ext cx="3426600" cy="7800"/>
          </a:xfrm>
          <a:prstGeom prst="straightConnector1">
            <a:avLst/>
          </a:prstGeom>
          <a:noFill/>
          <a:ln cap="flat" cmpd="sng" w="9525">
            <a:solidFill>
              <a:srgbClr val="4285F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4" name="Google Shape;244;p23"/>
          <p:cNvCxnSpPr/>
          <p:nvPr/>
        </p:nvCxnSpPr>
        <p:spPr>
          <a:xfrm>
            <a:off x="574950" y="2633900"/>
            <a:ext cx="3480900" cy="15600"/>
          </a:xfrm>
          <a:prstGeom prst="straightConnector1">
            <a:avLst/>
          </a:prstGeom>
          <a:noFill/>
          <a:ln cap="flat" cmpd="sng" w="9525">
            <a:solidFill>
              <a:srgbClr val="4285F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5" name="Google Shape;245;p23"/>
          <p:cNvCxnSpPr/>
          <p:nvPr/>
        </p:nvCxnSpPr>
        <p:spPr>
          <a:xfrm rot="10800000">
            <a:off x="551750" y="3877025"/>
            <a:ext cx="3504000" cy="7800"/>
          </a:xfrm>
          <a:prstGeom prst="straightConnector1">
            <a:avLst/>
          </a:prstGeom>
          <a:noFill/>
          <a:ln cap="flat" cmpd="sng" w="9525">
            <a:solidFill>
              <a:srgbClr val="4285F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6" name="Google Shape;246;p23"/>
          <p:cNvCxnSpPr/>
          <p:nvPr/>
        </p:nvCxnSpPr>
        <p:spPr>
          <a:xfrm rot="10800000">
            <a:off x="528800" y="4502400"/>
            <a:ext cx="3488100" cy="27300"/>
          </a:xfrm>
          <a:prstGeom prst="straightConnector1">
            <a:avLst/>
          </a:prstGeom>
          <a:noFill/>
          <a:ln cap="flat" cmpd="sng" w="9525">
            <a:solidFill>
              <a:srgbClr val="4285F4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247" name="Google Shape;247;p23"/>
          <p:cNvGraphicFramePr/>
          <p:nvPr/>
        </p:nvGraphicFramePr>
        <p:xfrm>
          <a:off x="4777725" y="328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{47747C77-45E1-4B95-9846-36C6299D6EEB}</a:tableStyleId>
              </a:tblPr>
              <a:tblGrid>
                <a:gridCol w="1100425"/>
                <a:gridCol w="830250"/>
                <a:gridCol w="2029525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sourceSwitchers</a:t>
                      </a:r>
                      <a:endParaRPr sz="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field</a:t>
                      </a:r>
                      <a:endParaRPr sz="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required</a:t>
                      </a:r>
                      <a:endParaRPr sz="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status</a:t>
                      </a:r>
                      <a:endParaRPr sz="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ok / timeout / checksum_error</a:t>
                      </a:r>
                      <a:endParaRPr sz="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8" name="Google Shape;248;p23"/>
          <p:cNvSpPr txBox="1"/>
          <p:nvPr/>
        </p:nvSpPr>
        <p:spPr>
          <a:xfrm>
            <a:off x="4777675" y="3236975"/>
            <a:ext cx="3960300" cy="16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1"/>
                </a:solidFill>
              </a:rPr>
              <a:t>{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1"/>
                </a:solidFill>
              </a:rPr>
              <a:t>  “securityAlert”:[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1"/>
                </a:solidFill>
              </a:rPr>
              <a:t>    {“status”: “ok”}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1"/>
                </a:solidFill>
              </a:rPr>
              <a:t>  ]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1"/>
                </a:solidFill>
              </a:rPr>
              <a:t>}</a:t>
            </a:r>
            <a:endParaRPr sz="1500">
              <a:solidFill>
                <a:schemeClr val="dk1"/>
              </a:solidFill>
            </a:endParaRPr>
          </a:p>
        </p:txBody>
      </p:sp>
      <p:cxnSp>
        <p:nvCxnSpPr>
          <p:cNvPr id="249" name="Google Shape;249;p23"/>
          <p:cNvCxnSpPr/>
          <p:nvPr/>
        </p:nvCxnSpPr>
        <p:spPr>
          <a:xfrm>
            <a:off x="2859750" y="4310334"/>
            <a:ext cx="1422600" cy="54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0" name="Google Shape;250;p23"/>
          <p:cNvSpPr/>
          <p:nvPr/>
        </p:nvSpPr>
        <p:spPr>
          <a:xfrm>
            <a:off x="4425425" y="356225"/>
            <a:ext cx="182400" cy="4483800"/>
          </a:xfrm>
          <a:prstGeom prst="leftBrace">
            <a:avLst>
              <a:gd fmla="val 50000" name="adj1"/>
              <a:gd fmla="val 45940" name="adj2"/>
            </a:avLst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3637100" y="411900"/>
            <a:ext cx="7848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tcp(:50000)</a:t>
            </a:r>
            <a:endParaRPr sz="1000">
              <a:solidFill>
                <a:srgbClr val="FF99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9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